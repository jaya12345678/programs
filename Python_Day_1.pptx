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95" r:id="rId2"/>
    <p:sldId id="296" r:id="rId3"/>
    <p:sldId id="297" r:id="rId4"/>
    <p:sldId id="298" r:id="rId5"/>
    <p:sldId id="299" r:id="rId6"/>
    <p:sldId id="258" r:id="rId7"/>
    <p:sldId id="282" r:id="rId8"/>
    <p:sldId id="283" r:id="rId9"/>
    <p:sldId id="292" r:id="rId10"/>
    <p:sldId id="257" r:id="rId11"/>
    <p:sldId id="259" r:id="rId12"/>
    <p:sldId id="260" r:id="rId13"/>
    <p:sldId id="262" r:id="rId14"/>
    <p:sldId id="261" r:id="rId15"/>
    <p:sldId id="263" r:id="rId16"/>
    <p:sldId id="264" r:id="rId17"/>
    <p:sldId id="266" r:id="rId18"/>
    <p:sldId id="265" r:id="rId19"/>
    <p:sldId id="267" r:id="rId20"/>
    <p:sldId id="286" r:id="rId21"/>
    <p:sldId id="284" r:id="rId22"/>
    <p:sldId id="285" r:id="rId23"/>
    <p:sldId id="293" r:id="rId24"/>
    <p:sldId id="269" r:id="rId25"/>
    <p:sldId id="268" r:id="rId26"/>
    <p:sldId id="270" r:id="rId27"/>
    <p:sldId id="287" r:id="rId28"/>
    <p:sldId id="288" r:id="rId29"/>
    <p:sldId id="289" r:id="rId30"/>
    <p:sldId id="290" r:id="rId31"/>
    <p:sldId id="271" r:id="rId32"/>
    <p:sldId id="272" r:id="rId33"/>
    <p:sldId id="273" r:id="rId34"/>
    <p:sldId id="294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FC963-EE15-4E94-B173-3140B87696D6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C8DB0-C1A5-4073-8148-C32C4FD71D2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AC8DB0-C1A5-4073-8148-C32C4FD71D2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Neil </a:t>
            </a:r>
            <a:r>
              <a:rPr lang="en-US" dirty="0" err="1" smtClean="0"/>
              <a:t>Gogte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9144000" cy="6553200"/>
          </a:xfrm>
        </p:spPr>
        <p:txBody>
          <a:bodyPr/>
          <a:lstStyle/>
          <a:p>
            <a:r>
              <a:rPr lang="en-US" dirty="0" smtClean="0"/>
              <a:t>Python is a general-purpose high-level programming language. Its design philosophy emphasizes code readability.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Python claims to "combine remarkable power with very clear syntax", and its standard library is large and comprehensive.</a:t>
            </a:r>
          </a:p>
          <a:p>
            <a:endParaRPr lang="en-US" dirty="0" smtClean="0"/>
          </a:p>
          <a:p>
            <a:r>
              <a:rPr lang="en-US" dirty="0" smtClean="0"/>
              <a:t>Its use of indentation for block delimiters is unusual</a:t>
            </a:r>
            <a:br>
              <a:rPr lang="en-US" dirty="0" smtClean="0"/>
            </a:br>
            <a:r>
              <a:rPr lang="en-US" dirty="0" smtClean="0"/>
              <a:t>among popular programming languages.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9144000" cy="6553200"/>
          </a:xfrm>
        </p:spPr>
        <p:txBody>
          <a:bodyPr>
            <a:normAutofit fontScale="92500"/>
          </a:bodyPr>
          <a:lstStyle/>
          <a:p>
            <a:r>
              <a:rPr lang="en-US" dirty="0"/>
              <a:t>Python </a:t>
            </a:r>
            <a:r>
              <a:rPr lang="en-US" dirty="0" smtClean="0"/>
              <a:t>supports object-oriented programming</a:t>
            </a:r>
            <a:r>
              <a:rPr lang="en-US" dirty="0"/>
              <a:t>, but do not force the use of object-oriented </a:t>
            </a:r>
            <a:r>
              <a:rPr lang="en-US" dirty="0" smtClean="0"/>
              <a:t>features.</a:t>
            </a:r>
          </a:p>
          <a:p>
            <a:endParaRPr lang="en-US" dirty="0"/>
          </a:p>
          <a:p>
            <a:r>
              <a:rPr lang="en-US" dirty="0"/>
              <a:t>Like other dynamic languages, Python </a:t>
            </a:r>
            <a:r>
              <a:rPr lang="en-US" dirty="0" smtClean="0"/>
              <a:t>is often </a:t>
            </a:r>
            <a:r>
              <a:rPr lang="en-US" dirty="0"/>
              <a:t>used as a scripting </a:t>
            </a:r>
            <a:r>
              <a:rPr lang="en-US" dirty="0" smtClean="0"/>
              <a:t>language.</a:t>
            </a:r>
          </a:p>
          <a:p>
            <a:endParaRPr lang="en-US" dirty="0"/>
          </a:p>
          <a:p>
            <a:r>
              <a:rPr lang="en-US" dirty="0"/>
              <a:t>Python allows you to split up your program in modules that can be reused in other </a:t>
            </a:r>
            <a:r>
              <a:rPr lang="en-US" dirty="0" smtClean="0"/>
              <a:t>Python programs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Python is an interpreted language, which can save </a:t>
            </a:r>
            <a:r>
              <a:rPr lang="en-US" dirty="0" smtClean="0"/>
              <a:t>your </a:t>
            </a:r>
            <a:r>
              <a:rPr lang="en-US" dirty="0"/>
              <a:t>considerable time during </a:t>
            </a:r>
            <a:r>
              <a:rPr lang="en-US" dirty="0" smtClean="0"/>
              <a:t>program development </a:t>
            </a:r>
            <a:r>
              <a:rPr lang="en-US" dirty="0"/>
              <a:t>because no compilation and linking are </a:t>
            </a:r>
            <a:r>
              <a:rPr lang="en-US" dirty="0" smtClean="0"/>
              <a:t>necessary.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/>
          <a:lstStyle/>
          <a:p>
            <a:r>
              <a:rPr lang="en-US" dirty="0"/>
              <a:t>Python allows writing very compact and readable programs. Programs written in Python </a:t>
            </a:r>
            <a:r>
              <a:rPr lang="en-US" dirty="0" smtClean="0"/>
              <a:t>are typically </a:t>
            </a:r>
            <a:r>
              <a:rPr lang="en-US" dirty="0"/>
              <a:t>much shorter than equivalent C or C++ programs, for several reasons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the high-level data types allow you to express complex operations in a single </a:t>
            </a:r>
            <a:r>
              <a:rPr lang="en-US" dirty="0" smtClean="0"/>
              <a:t>statement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statement grouping is done by indentation instead of beginning and ending </a:t>
            </a:r>
            <a:r>
              <a:rPr lang="en-US" dirty="0" smtClean="0"/>
              <a:t>brackets</a:t>
            </a:r>
          </a:p>
          <a:p>
            <a:pPr lvl="1"/>
            <a:r>
              <a:rPr lang="en-US" dirty="0"/>
              <a:t> no variable or argument declarations are necessary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Applications </a:t>
            </a:r>
            <a:r>
              <a:rPr lang="en-US" dirty="0"/>
              <a:t>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334000"/>
          </a:xfrm>
        </p:spPr>
        <p:txBody>
          <a:bodyPr/>
          <a:lstStyle/>
          <a:p>
            <a:r>
              <a:rPr lang="en-US" dirty="0"/>
              <a:t>GUI-Based Desktop </a:t>
            </a:r>
            <a:r>
              <a:rPr lang="en-US" dirty="0" smtClean="0"/>
              <a:t>Applications</a:t>
            </a:r>
          </a:p>
          <a:p>
            <a:r>
              <a:rPr lang="en-US" dirty="0"/>
              <a:t>Web Frameworks and Web </a:t>
            </a:r>
            <a:r>
              <a:rPr lang="en-US" dirty="0" smtClean="0"/>
              <a:t>Applications</a:t>
            </a:r>
          </a:p>
          <a:p>
            <a:r>
              <a:rPr lang="en-US" dirty="0"/>
              <a:t>Enterprise and Business </a:t>
            </a:r>
            <a:r>
              <a:rPr lang="en-US" dirty="0" smtClean="0"/>
              <a:t>Applications</a:t>
            </a:r>
          </a:p>
          <a:p>
            <a:r>
              <a:rPr lang="en-US" dirty="0" smtClean="0"/>
              <a:t>Prototyping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Comments and Literals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/>
          </a:bodyPr>
          <a:lstStyle/>
          <a:p>
            <a:r>
              <a:rPr lang="en-US" sz="2000" b="1" u="sng" dirty="0" smtClean="0">
                <a:solidFill>
                  <a:srgbClr val="FF0000"/>
                </a:solidFill>
              </a:rPr>
              <a:t>Comments: </a:t>
            </a:r>
            <a:r>
              <a:rPr lang="en-US" sz="2000" dirty="0" smtClean="0"/>
              <a:t>Any text to the right of </a:t>
            </a:r>
            <a:r>
              <a:rPr lang="en-US" sz="2000" b="1" dirty="0" smtClean="0">
                <a:solidFill>
                  <a:srgbClr val="FF0000"/>
                </a:solidFill>
              </a:rPr>
              <a:t>#</a:t>
            </a:r>
            <a:r>
              <a:rPr lang="en-US" sz="2000" dirty="0" smtClean="0"/>
              <a:t> symbol is mainly used as notes for the readers. </a:t>
            </a:r>
          </a:p>
          <a:p>
            <a:r>
              <a:rPr lang="en-US" sz="2000" dirty="0" smtClean="0"/>
              <a:t>Statements on right side of </a:t>
            </a:r>
            <a:r>
              <a:rPr lang="en-US" sz="2000" b="1" dirty="0" smtClean="0">
                <a:solidFill>
                  <a:srgbClr val="FF0000"/>
                </a:solidFill>
              </a:rPr>
              <a:t>#</a:t>
            </a:r>
            <a:r>
              <a:rPr lang="en-US" sz="2000" dirty="0" smtClean="0"/>
              <a:t> doesn’t get executed. It gives us more information about function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Bulk Comments: </a:t>
            </a:r>
            <a:r>
              <a:rPr lang="en-US" sz="2000" dirty="0" smtClean="0"/>
              <a:t>Enclose the code in triple quoted strings(“””)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3429000"/>
            <a:ext cx="2895600" cy="2667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#Comment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‘ ‘ ‘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Bulk Comments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Multiline Comments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‘ ‘ ‘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/>
          <p:nvPr/>
        </p:nvCxnSpPr>
        <p:spPr>
          <a:xfrm>
            <a:off x="3810000" y="2209800"/>
            <a:ext cx="2133600" cy="1828800"/>
          </a:xfrm>
          <a:prstGeom prst="bentConnector3">
            <a:avLst>
              <a:gd name="adj1" fmla="val -769"/>
            </a:avLst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>
            <a:off x="1828800" y="2971800"/>
            <a:ext cx="4114800" cy="2133600"/>
          </a:xfrm>
          <a:prstGeom prst="bentConnector3">
            <a:avLst>
              <a:gd name="adj1" fmla="val -256"/>
            </a:avLst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Taking input()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Developers often have a need to interact with users, either to get data or to provide some sort of result.</a:t>
            </a:r>
          </a:p>
          <a:p>
            <a:pPr fontAlgn="base"/>
            <a:r>
              <a:rPr lang="en-US" dirty="0" smtClean="0"/>
              <a:t>Python provides us with inbuilt function to read the input from the keyboard.</a:t>
            </a:r>
          </a:p>
          <a:p>
            <a:pPr fontAlgn="base"/>
            <a:r>
              <a:rPr lang="en-US" b="1" dirty="0" smtClean="0"/>
              <a:t>input ( prompt )</a:t>
            </a:r>
          </a:p>
          <a:p>
            <a:pPr fontAlgn="base"/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How the input function works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 smtClean="0"/>
              <a:t>When input() function executes program flow will be stopped until the user has given an input.</a:t>
            </a:r>
          </a:p>
          <a:p>
            <a:pPr fontAlgn="base"/>
            <a:r>
              <a:rPr lang="en-US" dirty="0" smtClean="0"/>
              <a:t>The text or message display on the output screen to ask a user to enter input value is optional i.e. the prompt, will be printed on the screen is optional.</a:t>
            </a:r>
          </a:p>
          <a:p>
            <a:pPr fontAlgn="base"/>
            <a:r>
              <a:rPr lang="en-US" dirty="0" smtClean="0"/>
              <a:t>Whatever you enter as input, input function convert it into a string. if you enter an integer value still input() function convert it into a string. </a:t>
            </a:r>
          </a:p>
          <a:p>
            <a:pPr fontAlgn="base"/>
            <a:r>
              <a:rPr lang="en-US" dirty="0" smtClean="0"/>
              <a:t>You need to explicitly convert it into an integer in your code using typecasting.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typecasting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process of converting one data type to another data type is called </a:t>
            </a:r>
            <a:r>
              <a:rPr lang="en-US" b="1" dirty="0" smtClean="0"/>
              <a:t>Typecasting </a:t>
            </a:r>
          </a:p>
          <a:p>
            <a:pPr>
              <a:buNone/>
            </a:pPr>
            <a:r>
              <a:rPr lang="en-US" b="1" smtClean="0"/>
              <a:t>Ex: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a = </a:t>
            </a:r>
            <a:r>
              <a:rPr lang="en-US" b="1" dirty="0" err="1" smtClean="0"/>
              <a:t>int</a:t>
            </a:r>
            <a:r>
              <a:rPr lang="en-US" b="1" dirty="0" smtClean="0"/>
              <a:t>(input())</a:t>
            </a:r>
          </a:p>
          <a:p>
            <a:pPr>
              <a:buNone/>
            </a:pPr>
            <a:r>
              <a:rPr lang="en-US" b="1" dirty="0" smtClean="0"/>
              <a:t>b=float(input())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Printing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600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 use the print() function to output data to the standard output device (screen).</a:t>
            </a:r>
          </a:p>
          <a:p>
            <a:r>
              <a:rPr lang="en-US" dirty="0" smtClean="0"/>
              <a:t>Syntax of print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819400"/>
            <a:ext cx="7696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print(*objects, sep=' ', end='\n', file=</a:t>
            </a:r>
            <a:r>
              <a:rPr lang="en-US" sz="2400" dirty="0" err="1" smtClean="0"/>
              <a:t>sys.stdout</a:t>
            </a:r>
            <a:r>
              <a:rPr lang="en-US" sz="2400" dirty="0" smtClean="0"/>
              <a:t>, flush=False)</a:t>
            </a:r>
            <a:endParaRPr lang="en-US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3810000"/>
            <a:ext cx="8229600" cy="2514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  Here, </a:t>
            </a:r>
            <a:r>
              <a:rPr lang="en-US" sz="2400" dirty="0" smtClean="0">
                <a:solidFill>
                  <a:srgbClr val="FF0000"/>
                </a:solidFill>
              </a:rPr>
              <a:t>objects</a:t>
            </a:r>
            <a:r>
              <a:rPr lang="en-US" sz="2400" dirty="0" smtClean="0"/>
              <a:t> is the value(s) to be printed.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 The </a:t>
            </a:r>
            <a:r>
              <a:rPr lang="en-US" sz="2400" dirty="0" smtClean="0">
                <a:solidFill>
                  <a:srgbClr val="FF0000"/>
                </a:solidFill>
              </a:rPr>
              <a:t>sep</a:t>
            </a:r>
            <a:r>
              <a:rPr lang="en-US" sz="2400" dirty="0" smtClean="0"/>
              <a:t> separator is used between the values. It defaults into a space character.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 After all values are printed, </a:t>
            </a:r>
            <a:r>
              <a:rPr lang="en-US" sz="2400" dirty="0" smtClean="0">
                <a:solidFill>
                  <a:srgbClr val="FF0000"/>
                </a:solidFill>
              </a:rPr>
              <a:t>end</a:t>
            </a:r>
            <a:r>
              <a:rPr lang="en-US" sz="2400" dirty="0" smtClean="0"/>
              <a:t> is printed. It defaults into a new line.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 The file is the object where the values are printed and its default value is </a:t>
            </a:r>
            <a:r>
              <a:rPr lang="en-US" sz="2400" dirty="0" err="1" smtClean="0">
                <a:solidFill>
                  <a:srgbClr val="FF0000"/>
                </a:solidFill>
              </a:rPr>
              <a:t>sys.stdout</a:t>
            </a:r>
            <a:r>
              <a:rPr lang="en-US" sz="2400" dirty="0" smtClean="0"/>
              <a:t> (screen). 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type()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fontAlgn="base"/>
            <a:r>
              <a:rPr lang="en-US" b="1" dirty="0" smtClean="0"/>
              <a:t>type()</a:t>
            </a:r>
            <a:r>
              <a:rPr lang="en-US" dirty="0" smtClean="0"/>
              <a:t> method returns class type of the argument(object) passed as parameter.</a:t>
            </a:r>
          </a:p>
          <a:p>
            <a:pPr fontAlgn="base"/>
            <a:r>
              <a:rPr lang="en-US" dirty="0" smtClean="0"/>
              <a:t>It is mostly used for debugging purposes.</a:t>
            </a:r>
          </a:p>
          <a:p>
            <a:pPr fontAlgn="base"/>
            <a:r>
              <a:rPr lang="en-US" dirty="0" smtClean="0"/>
              <a:t>Two different types of arguments can be passed to type() function</a:t>
            </a:r>
            <a:endParaRPr lang="en-US" b="1" dirty="0" smtClean="0"/>
          </a:p>
          <a:p>
            <a:pPr fontAlgn="base"/>
            <a:r>
              <a:rPr lang="en-US" b="1" dirty="0" smtClean="0"/>
              <a:t>Syntax :</a:t>
            </a:r>
            <a:endParaRPr lang="en-US" dirty="0" smtClean="0"/>
          </a:p>
          <a:p>
            <a:pPr lvl="1"/>
            <a:r>
              <a:rPr lang="en-US" dirty="0" smtClean="0"/>
              <a:t>type(object) - returns the type of the object.</a:t>
            </a:r>
          </a:p>
          <a:p>
            <a:pPr lvl="1"/>
            <a:r>
              <a:rPr lang="en-US" dirty="0" smtClean="0"/>
              <a:t>type(name, bases, </a:t>
            </a:r>
            <a:r>
              <a:rPr lang="en-US" dirty="0" err="1" smtClean="0"/>
              <a:t>dict</a:t>
            </a:r>
            <a:r>
              <a:rPr lang="en-US" dirty="0" smtClean="0"/>
              <a:t>) - used to create a class dynamically on the fly.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type()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type(object): </a:t>
            </a:r>
          </a:p>
          <a:p>
            <a:pPr lvl="1"/>
            <a:r>
              <a:rPr lang="en-US" dirty="0" smtClean="0"/>
              <a:t>When a single argument is passed to the type() function, it returns the type of the object.</a:t>
            </a:r>
          </a:p>
          <a:p>
            <a:pPr lvl="1">
              <a:buNone/>
            </a:pPr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/>
              <a:t>x = 10 </a:t>
            </a:r>
          </a:p>
          <a:p>
            <a:pPr lvl="1">
              <a:buNone/>
            </a:pPr>
            <a:r>
              <a:rPr lang="en-US" dirty="0" smtClean="0"/>
              <a:t>print(type(x)) </a:t>
            </a:r>
          </a:p>
          <a:p>
            <a:pPr lvl="1">
              <a:buNone/>
            </a:pPr>
            <a:r>
              <a:rPr lang="en-US" dirty="0" smtClean="0"/>
              <a:t>s = '</a:t>
            </a:r>
            <a:r>
              <a:rPr lang="en-US" dirty="0" err="1" smtClean="0"/>
              <a:t>abc</a:t>
            </a:r>
            <a:r>
              <a:rPr lang="en-US" dirty="0" smtClean="0"/>
              <a:t>' </a:t>
            </a:r>
          </a:p>
          <a:p>
            <a:pPr lvl="1">
              <a:buNone/>
            </a:pPr>
            <a:r>
              <a:rPr lang="en-US" dirty="0" smtClean="0"/>
              <a:t>print(type(s))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38600" y="3048000"/>
            <a:ext cx="2362200" cy="198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Output:</a:t>
            </a:r>
          </a:p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&lt;class '</a:t>
            </a:r>
            <a:r>
              <a:rPr lang="en-US" sz="2800" dirty="0" err="1" smtClean="0">
                <a:solidFill>
                  <a:schemeClr val="tx1"/>
                </a:solidFill>
              </a:rPr>
              <a:t>int</a:t>
            </a:r>
            <a:r>
              <a:rPr lang="en-US" sz="2800" dirty="0" smtClean="0">
                <a:solidFill>
                  <a:schemeClr val="tx1"/>
                </a:solidFill>
              </a:rPr>
              <a:t>'&gt; </a:t>
            </a:r>
          </a:p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&lt;class '</a:t>
            </a:r>
            <a:r>
              <a:rPr lang="en-US" sz="2800" dirty="0" err="1" smtClean="0">
                <a:solidFill>
                  <a:schemeClr val="tx1"/>
                </a:solidFill>
              </a:rPr>
              <a:t>str</a:t>
            </a:r>
            <a:r>
              <a:rPr lang="en-US" sz="2800" dirty="0" smtClean="0">
                <a:solidFill>
                  <a:schemeClr val="tx1"/>
                </a:solidFill>
              </a:rPr>
              <a:t>'&gt; </a:t>
            </a:r>
            <a:br>
              <a:rPr lang="en-US" sz="2800" dirty="0" smtClean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 smtClean="0"/>
              <a:t>Data Types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43400" y="1438275"/>
            <a:ext cx="3962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  Type represents the kind of value and determines how the value can be used.</a:t>
            </a:r>
          </a:p>
          <a:p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   Everything in Python is an object and every object has an identity, a type, and a value. 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0"/>
            <a:ext cx="373380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295400"/>
            <a:ext cx="6088932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id()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36576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When an object is instantiated, it is assigned a unique object id. </a:t>
            </a:r>
          </a:p>
          <a:p>
            <a:r>
              <a:rPr lang="en-US" dirty="0" smtClean="0"/>
              <a:t>The built-in function id() returns the identity of an object as an integer.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500" y="1447800"/>
            <a:ext cx="499110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In Python, </a:t>
            </a:r>
            <a:r>
              <a:rPr lang="en-US" b="1" dirty="0" smtClean="0"/>
              <a:t>Strings </a:t>
            </a:r>
            <a:r>
              <a:rPr lang="en-US" dirty="0" smtClean="0"/>
              <a:t>are arrays of bytes representing Unicode characters. </a:t>
            </a:r>
          </a:p>
          <a:p>
            <a:r>
              <a:rPr lang="en-US" dirty="0" smtClean="0"/>
              <a:t>Python does not have a character data type, a single character is simply a string with a length of 1.</a:t>
            </a:r>
          </a:p>
          <a:p>
            <a:r>
              <a:rPr lang="en-US" dirty="0" smtClean="0"/>
              <a:t>Strings can be enclosed in single quotes or double quotes. </a:t>
            </a:r>
          </a:p>
          <a:p>
            <a:pPr lvl="1"/>
            <a:r>
              <a:rPr lang="en-US" dirty="0" err="1" smtClean="0"/>
              <a:t>str_val</a:t>
            </a:r>
            <a:r>
              <a:rPr lang="en-US" dirty="0" smtClean="0"/>
              <a:t>=‘</a:t>
            </a:r>
            <a:r>
              <a:rPr lang="en-US" dirty="0" err="1" smtClean="0"/>
              <a:t>kmit</a:t>
            </a:r>
            <a:r>
              <a:rPr lang="en-US" dirty="0" smtClean="0"/>
              <a:t>’</a:t>
            </a:r>
          </a:p>
          <a:p>
            <a:pPr lvl="1"/>
            <a:r>
              <a:rPr lang="en-US" dirty="0" err="1" smtClean="0"/>
              <a:t>str_val</a:t>
            </a:r>
            <a:r>
              <a:rPr lang="en-US" dirty="0" smtClean="0"/>
              <a:t>=“k”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229600" cy="2057400"/>
          </a:xfrm>
        </p:spPr>
        <p:txBody>
          <a:bodyPr/>
          <a:lstStyle/>
          <a:p>
            <a:r>
              <a:rPr lang="en-US" dirty="0" smtClean="0"/>
              <a:t>Square brackets can be used to access elements of the string.</a:t>
            </a:r>
          </a:p>
          <a:p>
            <a:pPr lvl="1">
              <a:buNone/>
            </a:pPr>
            <a:r>
              <a:rPr lang="en-US" dirty="0" smtClean="0"/>
              <a:t>	a = "Hello, World!”		Output: e</a:t>
            </a:r>
            <a:br>
              <a:rPr lang="en-US" dirty="0" smtClean="0"/>
            </a:br>
            <a:r>
              <a:rPr lang="en-US" dirty="0" smtClean="0"/>
              <a:t>print(a[1])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397000"/>
          <a:ext cx="60960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-5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Substrings/Slicing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In python substring is a sequence of characters within another string, In python, it is also referred to as the </a:t>
            </a:r>
            <a:r>
              <a:rPr lang="en-US" b="1" u="sng" dirty="0" smtClean="0">
                <a:solidFill>
                  <a:srgbClr val="FF0000"/>
                </a:solidFill>
              </a:rPr>
              <a:t>slicing of string.</a:t>
            </a:r>
          </a:p>
          <a:p>
            <a:r>
              <a:rPr lang="en-US" dirty="0" smtClean="0"/>
              <a:t>Slicing Strings in Python:</a:t>
            </a:r>
          </a:p>
          <a:p>
            <a:pPr marL="971550" lvl="1" indent="-514350">
              <a:buNone/>
            </a:pPr>
            <a:r>
              <a:rPr lang="en-US" sz="3200" dirty="0" smtClean="0"/>
              <a:t>	</a:t>
            </a:r>
            <a:r>
              <a:rPr lang="en-US" sz="3200" b="1" dirty="0" smtClean="0">
                <a:solidFill>
                  <a:schemeClr val="accent3">
                    <a:lumMod val="75000"/>
                  </a:schemeClr>
                </a:solidFill>
              </a:rPr>
              <a:t>string[start: end: step]</a:t>
            </a:r>
            <a:br>
              <a:rPr lang="en-US" sz="3200" b="1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en-US" b="1" u="sng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Template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371600"/>
          <a:ext cx="8229600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/>
                <a:gridCol w="5105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Template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Description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sz="2800" dirty="0" smtClean="0"/>
                        <a:t>string[</a:t>
                      </a:r>
                      <a:r>
                        <a:rPr lang="en-US" sz="2800" dirty="0" err="1" smtClean="0"/>
                        <a:t>start:end</a:t>
                      </a:r>
                      <a:r>
                        <a:rPr lang="en-US" sz="2800" dirty="0" smtClean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Get all characters from index </a:t>
                      </a:r>
                      <a:r>
                        <a:rPr lang="en-US" sz="2800" i="1" dirty="0" smtClean="0"/>
                        <a:t>start</a:t>
                      </a:r>
                      <a:r>
                        <a:rPr lang="en-US" sz="2800" dirty="0" smtClean="0"/>
                        <a:t> to </a:t>
                      </a:r>
                      <a:r>
                        <a:rPr lang="en-US" sz="2800" i="1" dirty="0" smtClean="0"/>
                        <a:t>end-1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string[:end]: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Get all characters from the beginning of the string to </a:t>
                      </a:r>
                      <a:r>
                        <a:rPr lang="en-US" sz="2800" i="1" dirty="0" smtClean="0"/>
                        <a:t>end-1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string[start:]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Get all characters from index </a:t>
                      </a:r>
                      <a:r>
                        <a:rPr lang="en-US" sz="2800" i="1" dirty="0" smtClean="0"/>
                        <a:t>start</a:t>
                      </a:r>
                      <a:r>
                        <a:rPr lang="en-US" sz="2800" dirty="0" smtClean="0"/>
                        <a:t> to the end of the string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string[</a:t>
                      </a:r>
                      <a:r>
                        <a:rPr lang="en-US" sz="2600" dirty="0" err="1" smtClean="0"/>
                        <a:t>start:end:step</a:t>
                      </a:r>
                      <a:r>
                        <a:rPr lang="en-US" sz="2600" dirty="0" smtClean="0"/>
                        <a:t>]</a:t>
                      </a:r>
                      <a:endParaRPr 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800" dirty="0" smtClean="0"/>
                        <a:t>Get all characters from </a:t>
                      </a:r>
                      <a:r>
                        <a:rPr lang="en-US" sz="2800" i="1" dirty="0" smtClean="0"/>
                        <a:t>start</a:t>
                      </a:r>
                      <a:r>
                        <a:rPr lang="en-US" sz="2800" dirty="0" smtClean="0"/>
                        <a:t> to </a:t>
                      </a:r>
                      <a:r>
                        <a:rPr lang="en-US" sz="2800" i="1" dirty="0" smtClean="0"/>
                        <a:t>end-1</a:t>
                      </a:r>
                      <a:r>
                        <a:rPr lang="en-US" sz="2800" dirty="0" smtClean="0"/>
                        <a:t> discounting every </a:t>
                      </a:r>
                      <a:r>
                        <a:rPr lang="en-US" sz="2800" i="1" dirty="0" smtClean="0"/>
                        <a:t>step</a:t>
                      </a:r>
                      <a:r>
                        <a:rPr lang="en-US" sz="2800" dirty="0" smtClean="0"/>
                        <a:t> character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index() and find()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 index() and find() methods finds the first occurrence of the specified value.</a:t>
            </a:r>
          </a:p>
          <a:p>
            <a:r>
              <a:rPr lang="en-US" dirty="0" smtClean="0"/>
              <a:t>The index() method raises an exception if the value is not found.</a:t>
            </a:r>
          </a:p>
          <a:p>
            <a:r>
              <a:rPr lang="en-US" dirty="0" smtClean="0"/>
              <a:t>The find() method returns -1 if the value is not found.</a:t>
            </a:r>
          </a:p>
          <a:p>
            <a:r>
              <a:rPr lang="en-US" dirty="0" smtClean="0"/>
              <a:t>Syntax:</a:t>
            </a:r>
          </a:p>
          <a:p>
            <a:pPr lvl="1"/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string.index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(value, start, end)</a:t>
            </a:r>
          </a:p>
          <a:p>
            <a:pPr lvl="1"/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string.find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(value, start, end)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index() and find()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rindex</a:t>
            </a:r>
            <a:r>
              <a:rPr lang="en-US" dirty="0" smtClean="0"/>
              <a:t>() and </a:t>
            </a:r>
            <a:r>
              <a:rPr lang="en-US" dirty="0" err="1" smtClean="0"/>
              <a:t>rfind</a:t>
            </a:r>
            <a:r>
              <a:rPr lang="en-US" dirty="0" smtClean="0"/>
              <a:t>() methods finds the last occurrence of the specified value.</a:t>
            </a:r>
          </a:p>
          <a:p>
            <a:r>
              <a:rPr lang="en-US" dirty="0" smtClean="0"/>
              <a:t>If the value is not found, the </a:t>
            </a:r>
            <a:r>
              <a:rPr lang="en-US" dirty="0" err="1" smtClean="0"/>
              <a:t>rfind</a:t>
            </a:r>
            <a:r>
              <a:rPr lang="en-US" dirty="0" smtClean="0"/>
              <a:t>() method returns -1, </a:t>
            </a:r>
          </a:p>
          <a:p>
            <a:r>
              <a:rPr lang="en-US" dirty="0" err="1" smtClean="0"/>
              <a:t>rindex</a:t>
            </a:r>
            <a:r>
              <a:rPr lang="en-US" dirty="0" smtClean="0"/>
              <a:t>() method will raise an exception.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 smtClean="0"/>
              <a:t>replace()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replace()</a:t>
            </a:r>
            <a:r>
              <a:rPr lang="en-US" dirty="0" smtClean="0"/>
              <a:t> is an inbuilt function in Python programming language that returns a copy of the string where all occurrences of a substring is replaced with another substring.</a:t>
            </a:r>
          </a:p>
          <a:p>
            <a:r>
              <a:rPr lang="en-US" dirty="0" smtClean="0"/>
              <a:t>Syntax: </a:t>
            </a:r>
          </a:p>
          <a:p>
            <a:pPr lvl="1"/>
            <a:r>
              <a:rPr lang="en-US" dirty="0" err="1" smtClean="0"/>
              <a:t>string.replace</a:t>
            </a:r>
            <a:r>
              <a:rPr lang="en-US" dirty="0" smtClean="0"/>
              <a:t>(old, new, count)</a:t>
            </a:r>
          </a:p>
          <a:p>
            <a:pPr lvl="1" fontAlgn="base"/>
            <a:r>
              <a:rPr lang="en-US" b="1" i="1" dirty="0" smtClean="0">
                <a:solidFill>
                  <a:srgbClr val="FF0000"/>
                </a:solidFill>
              </a:rPr>
              <a:t>old</a:t>
            </a:r>
            <a:r>
              <a:rPr lang="en-US" b="1" i="1" dirty="0" smtClean="0"/>
              <a:t> –</a:t>
            </a:r>
            <a:r>
              <a:rPr lang="en-US" i="1" dirty="0" smtClean="0"/>
              <a:t> old substring you want to replace.</a:t>
            </a:r>
          </a:p>
          <a:p>
            <a:pPr lvl="1" fontAlgn="base"/>
            <a:r>
              <a:rPr lang="en-US" b="1" i="1" dirty="0" smtClean="0">
                <a:solidFill>
                  <a:srgbClr val="FF0000"/>
                </a:solidFill>
              </a:rPr>
              <a:t>new</a:t>
            </a:r>
            <a:r>
              <a:rPr lang="en-US" b="1" i="1" dirty="0" smtClean="0"/>
              <a:t> –</a:t>
            </a:r>
            <a:r>
              <a:rPr lang="en-US" i="1" dirty="0" smtClean="0"/>
              <a:t> new substring which would replace the old substring.</a:t>
            </a:r>
          </a:p>
          <a:p>
            <a:pPr lvl="1" fontAlgn="base"/>
            <a:r>
              <a:rPr lang="en-US" b="1" i="1" dirty="0" smtClean="0">
                <a:solidFill>
                  <a:srgbClr val="FF0000"/>
                </a:solidFill>
              </a:rPr>
              <a:t>count</a:t>
            </a:r>
            <a:r>
              <a:rPr lang="en-US" b="1" i="1" dirty="0" smtClean="0"/>
              <a:t> –</a:t>
            </a:r>
            <a:r>
              <a:rPr lang="en-US" i="1" dirty="0" smtClean="0"/>
              <a:t> the number of times you want to replace the old substring with the new substring. (</a:t>
            </a:r>
            <a:r>
              <a:rPr lang="en-US" b="1" i="1" dirty="0" smtClean="0"/>
              <a:t>Optional </a:t>
            </a:r>
            <a:r>
              <a:rPr lang="en-US" i="1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Repetition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US" dirty="0" smtClean="0"/>
              <a:t>Repetition - Creates new strings, concatenating multiple copies of the same string</a:t>
            </a:r>
          </a:p>
          <a:p>
            <a:pPr fontAlgn="t"/>
            <a:r>
              <a:rPr lang="en-US" dirty="0" smtClean="0"/>
              <a:t>Example:</a:t>
            </a:r>
          </a:p>
          <a:p>
            <a:pPr lvl="1" fontAlgn="t"/>
            <a:r>
              <a:rPr lang="en-US" dirty="0" smtClean="0"/>
              <a:t>a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2 will give -</a:t>
            </a:r>
            <a:r>
              <a:rPr lang="en-US" dirty="0" err="1" smtClean="0"/>
              <a:t>HelloHello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Splitting, Concatenating, and Joining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split() method breaks up a string at the specified separator and returns a list of strings.</a:t>
            </a:r>
          </a:p>
          <a:p>
            <a:r>
              <a:rPr lang="en-US" dirty="0" smtClean="0"/>
              <a:t>Syntax:</a:t>
            </a:r>
          </a:p>
          <a:p>
            <a:pPr lvl="1"/>
            <a:r>
              <a:rPr lang="en-US" dirty="0" err="1" smtClean="0"/>
              <a:t>str.split</a:t>
            </a:r>
            <a:r>
              <a:rPr lang="en-US" dirty="0" smtClean="0"/>
              <a:t>([separator [, </a:t>
            </a:r>
            <a:r>
              <a:rPr lang="en-US" dirty="0" err="1" smtClean="0"/>
              <a:t>maxsplit</a:t>
            </a:r>
            <a:r>
              <a:rPr lang="en-US" dirty="0" smtClean="0"/>
              <a:t>]])</a:t>
            </a:r>
          </a:p>
          <a:p>
            <a:pPr lvl="1"/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separator</a:t>
            </a:r>
            <a:r>
              <a:rPr lang="en-US" dirty="0" smtClean="0"/>
              <a:t> (optional)- It is a delimiter. The string splits at the specified separator.</a:t>
            </a:r>
          </a:p>
          <a:p>
            <a:pPr lvl="1"/>
            <a:r>
              <a:rPr lang="en-US" b="1" dirty="0" err="1" smtClean="0">
                <a:solidFill>
                  <a:schemeClr val="accent3">
                    <a:lumMod val="75000"/>
                  </a:schemeClr>
                </a:solidFill>
              </a:rPr>
              <a:t>maxsplit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 </a:t>
            </a:r>
            <a:r>
              <a:rPr lang="en-US" dirty="0" smtClean="0"/>
              <a:t>(optional) - The </a:t>
            </a:r>
            <a:r>
              <a:rPr lang="en-US" dirty="0" err="1" smtClean="0"/>
              <a:t>maxsplit</a:t>
            </a:r>
            <a:r>
              <a:rPr lang="en-US" dirty="0" smtClean="0"/>
              <a:t> defines the maximum number of splits.</a:t>
            </a:r>
          </a:p>
          <a:p>
            <a:pPr lvl="1"/>
            <a:r>
              <a:rPr lang="en-US" dirty="0" smtClean="0"/>
              <a:t>If </a:t>
            </a:r>
            <a:r>
              <a:rPr lang="en-US" dirty="0" err="1" smtClean="0"/>
              <a:t>maxsplit</a:t>
            </a:r>
            <a:r>
              <a:rPr lang="en-US" dirty="0" smtClean="0"/>
              <a:t> is specified, the list will have the maximum of maxsplit+1 items.</a:t>
            </a:r>
          </a:p>
          <a:p>
            <a:pPr lvl="1"/>
            <a:r>
              <a:rPr lang="en-US" dirty="0" smtClean="0"/>
              <a:t>Return: list of strings.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Splitting, Concatenating, and Joining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584960"/>
          <a:ext cx="8229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7874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Method Name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Description</a:t>
                      </a:r>
                      <a:endParaRPr lang="en-US" sz="2800" dirty="0"/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rsplit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splits a string into a list, starting from the right.</a:t>
                      </a:r>
                    </a:p>
                  </a:txBody>
                  <a:tcPr/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splitlines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splits a string into a list. The splitting is done at line breaks.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Splitting, Concatenating, and Joining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Concatenation - Adds string values</a:t>
            </a:r>
          </a:p>
          <a:p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/>
              <a:t>a=‘Hello’</a:t>
            </a:r>
          </a:p>
          <a:p>
            <a:pPr lvl="1">
              <a:buNone/>
            </a:pPr>
            <a:r>
              <a:rPr lang="en-US" dirty="0" smtClean="0"/>
              <a:t>b=‘Python’</a:t>
            </a:r>
          </a:p>
          <a:p>
            <a:pPr lvl="1">
              <a:buNone/>
            </a:pPr>
            <a:r>
              <a:rPr lang="en-US" dirty="0" smtClean="0"/>
              <a:t>a + b will give </a:t>
            </a:r>
            <a:r>
              <a:rPr lang="en-US" dirty="0" err="1" smtClean="0"/>
              <a:t>HelloPython</a:t>
            </a:r>
            <a:endParaRPr lang="en-US" b="1" u="sng" dirty="0" smtClean="0"/>
          </a:p>
          <a:p>
            <a:pPr lvl="1">
              <a:buNone/>
            </a:pPr>
            <a:endParaRPr lang="en-US" b="1" u="sng" dirty="0" smtClean="0"/>
          </a:p>
          <a:p>
            <a:r>
              <a:rPr lang="en-US" b="1" u="sng" dirty="0" smtClean="0"/>
              <a:t>join():</a:t>
            </a:r>
            <a:r>
              <a:rPr lang="en-US" dirty="0" smtClean="0"/>
              <a:t> function to join a list of strings. This function takes </a:t>
            </a:r>
            <a:r>
              <a:rPr lang="en-US" dirty="0" err="1" smtClean="0"/>
              <a:t>iterable</a:t>
            </a:r>
            <a:r>
              <a:rPr lang="en-US" dirty="0" smtClean="0"/>
              <a:t> as argument  </a:t>
            </a:r>
          </a:p>
          <a:p>
            <a:r>
              <a:rPr lang="en-US" dirty="0" smtClean="0"/>
              <a:t>Syntax:</a:t>
            </a:r>
          </a:p>
          <a:p>
            <a:pPr lvl="1"/>
            <a:r>
              <a:rPr lang="en-US" dirty="0" err="1" smtClean="0"/>
              <a:t>string.join</a:t>
            </a:r>
            <a:r>
              <a:rPr lang="en-US" dirty="0" smtClean="0"/>
              <a:t>(</a:t>
            </a:r>
            <a:r>
              <a:rPr lang="en-US" dirty="0" err="1" smtClean="0"/>
              <a:t>iterable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iterables</a:t>
            </a:r>
            <a:r>
              <a:rPr lang="en-US" dirty="0" smtClean="0"/>
              <a:t>: List, Tuple, String, Dictionary and Set.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isalpha</a:t>
            </a:r>
            <a:r>
              <a:rPr lang="en-US" dirty="0" smtClean="0"/>
              <a:t>(): returns </a:t>
            </a:r>
            <a:r>
              <a:rPr lang="en-US" b="1" dirty="0" smtClean="0">
                <a:solidFill>
                  <a:srgbClr val="0070C0"/>
                </a:solidFill>
              </a:rPr>
              <a:t>True </a:t>
            </a:r>
            <a:r>
              <a:rPr lang="en-US" dirty="0" smtClean="0"/>
              <a:t>if all the characters are alphabet letters (a-z).</a:t>
            </a:r>
          </a:p>
          <a:p>
            <a:r>
              <a:rPr lang="en-US" dirty="0" err="1" smtClean="0"/>
              <a:t>isdigit</a:t>
            </a:r>
            <a:r>
              <a:rPr lang="en-US" dirty="0" smtClean="0"/>
              <a:t>():returns </a:t>
            </a:r>
            <a:r>
              <a:rPr lang="en-US" b="1" dirty="0" smtClean="0">
                <a:solidFill>
                  <a:srgbClr val="0070C0"/>
                </a:solidFill>
              </a:rPr>
              <a:t>True</a:t>
            </a:r>
            <a:r>
              <a:rPr lang="en-US" dirty="0" smtClean="0"/>
              <a:t> if all characters in the string are digits.</a:t>
            </a:r>
          </a:p>
          <a:p>
            <a:r>
              <a:rPr lang="en-US" dirty="0" err="1" smtClean="0"/>
              <a:t>isalnum</a:t>
            </a:r>
            <a:r>
              <a:rPr lang="en-US" dirty="0" smtClean="0"/>
              <a:t>(): Check if all the characters in the text is alphanumeric.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eval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eval</a:t>
            </a:r>
            <a:r>
              <a:rPr lang="en-US" dirty="0" smtClean="0"/>
              <a:t>() dynamically evaluate expressions from a string-based or compiled-code-based input.</a:t>
            </a:r>
          </a:p>
          <a:p>
            <a:r>
              <a:rPr lang="en-US" dirty="0" smtClean="0"/>
              <a:t>To evaluate a string-based expression, Python’s </a:t>
            </a:r>
            <a:r>
              <a:rPr lang="en-US" dirty="0" err="1" smtClean="0"/>
              <a:t>eval</a:t>
            </a:r>
            <a:r>
              <a:rPr lang="en-US" dirty="0" smtClean="0"/>
              <a:t>() runs the following steps:</a:t>
            </a:r>
          </a:p>
          <a:p>
            <a:pPr lvl="1"/>
            <a:r>
              <a:rPr lang="en-US" b="1" dirty="0" smtClean="0"/>
              <a:t>Parse</a:t>
            </a:r>
            <a:r>
              <a:rPr lang="en-US" dirty="0" smtClean="0"/>
              <a:t> expression</a:t>
            </a:r>
          </a:p>
          <a:p>
            <a:pPr lvl="1"/>
            <a:r>
              <a:rPr lang="en-US" b="1" dirty="0" smtClean="0"/>
              <a:t>Compile</a:t>
            </a:r>
            <a:r>
              <a:rPr lang="en-US" dirty="0" smtClean="0"/>
              <a:t> it to </a:t>
            </a:r>
            <a:r>
              <a:rPr lang="en-US" dirty="0" err="1" smtClean="0"/>
              <a:t>bytecode</a:t>
            </a:r>
            <a:endParaRPr lang="en-US" dirty="0" smtClean="0"/>
          </a:p>
          <a:p>
            <a:pPr lvl="1"/>
            <a:r>
              <a:rPr lang="en-US" b="1" dirty="0" smtClean="0"/>
              <a:t>Evaluate</a:t>
            </a:r>
            <a:r>
              <a:rPr lang="en-US" dirty="0" smtClean="0"/>
              <a:t> it as a Python expression</a:t>
            </a:r>
          </a:p>
          <a:p>
            <a:pPr lvl="1"/>
            <a:r>
              <a:rPr lang="en-US" b="1" dirty="0" smtClean="0"/>
              <a:t>Return</a:t>
            </a:r>
            <a:r>
              <a:rPr lang="en-US" dirty="0" smtClean="0"/>
              <a:t> the result of the evaluation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</a:t>
            </a:r>
            <a:r>
              <a:rPr lang="en-US" dirty="0" smtClean="0"/>
              <a:t>(),</a:t>
            </a:r>
            <a:r>
              <a:rPr lang="en-US" dirty="0" err="1" smtClean="0"/>
              <a:t>repr</a:t>
            </a:r>
            <a:r>
              <a:rPr lang="en-US" dirty="0" smtClean="0"/>
              <a:t>() and </a:t>
            </a:r>
            <a:r>
              <a:rPr lang="en-US" dirty="0" err="1" smtClean="0"/>
              <a:t>zfill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Both </a:t>
            </a:r>
            <a:r>
              <a:rPr lang="en-US" dirty="0" err="1" smtClean="0"/>
              <a:t>str</a:t>
            </a:r>
            <a:r>
              <a:rPr lang="en-US" dirty="0" smtClean="0"/>
              <a:t>() and </a:t>
            </a:r>
            <a:r>
              <a:rPr lang="en-US" dirty="0" err="1" smtClean="0"/>
              <a:t>repr</a:t>
            </a:r>
            <a:r>
              <a:rPr lang="en-US" dirty="0" smtClean="0"/>
              <a:t>() methods in python are used for string representation of a string.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zfill</a:t>
            </a:r>
            <a:r>
              <a:rPr lang="en-US" dirty="0" smtClean="0"/>
              <a:t>() method returns a copy of the string with '0' characters padded to the left.</a:t>
            </a:r>
          </a:p>
          <a:p>
            <a:r>
              <a:rPr lang="en-US" dirty="0" smtClean="0"/>
              <a:t>Syntax:</a:t>
            </a:r>
          </a:p>
          <a:p>
            <a:pPr lvl="1"/>
            <a:r>
              <a:rPr lang="en-US" dirty="0" err="1" smtClean="0"/>
              <a:t>str.zfill</a:t>
            </a:r>
            <a:r>
              <a:rPr lang="en-US" dirty="0" smtClean="0"/>
              <a:t>(length) </a:t>
            </a:r>
          </a:p>
          <a:p>
            <a:pPr lvl="1"/>
            <a:r>
              <a:rPr lang="en-US" dirty="0" smtClean="0"/>
              <a:t>The length specifies the length of the returned string from </a:t>
            </a:r>
            <a:r>
              <a:rPr lang="en-US" dirty="0" err="1" smtClean="0"/>
              <a:t>zfill</a:t>
            </a:r>
            <a:r>
              <a:rPr lang="en-US" dirty="0" smtClean="0"/>
              <a:t>() with 0 digits filled to the left.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rjust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 </a:t>
            </a:r>
            <a:r>
              <a:rPr lang="en-US" dirty="0" err="1" smtClean="0"/>
              <a:t>rjust</a:t>
            </a:r>
            <a:r>
              <a:rPr lang="en-US" dirty="0" smtClean="0"/>
              <a:t>() method will right align the string, using a specified character (space is default) as the fill character.</a:t>
            </a:r>
          </a:p>
          <a:p>
            <a:r>
              <a:rPr lang="en-US" i="1" dirty="0" smtClean="0"/>
              <a:t>Syntax:</a:t>
            </a:r>
          </a:p>
          <a:p>
            <a:pPr lvl="1"/>
            <a:r>
              <a:rPr lang="en-US" dirty="0" err="1" smtClean="0"/>
              <a:t>string.rjust</a:t>
            </a:r>
            <a:r>
              <a:rPr lang="en-US" dirty="0" smtClean="0"/>
              <a:t>(length, character)</a:t>
            </a:r>
          </a:p>
          <a:p>
            <a:pPr lvl="1"/>
            <a:r>
              <a:rPr lang="en-US" b="1" dirty="0" smtClean="0"/>
              <a:t>length</a:t>
            </a:r>
            <a:r>
              <a:rPr lang="en-US" dirty="0" smtClean="0"/>
              <a:t>: The value of the length provided is basically used to justify the string of the given length.</a:t>
            </a:r>
          </a:p>
          <a:p>
            <a:pPr lvl="1"/>
            <a:r>
              <a:rPr lang="en-US" b="1" dirty="0" err="1" smtClean="0"/>
              <a:t>fill_char</a:t>
            </a:r>
            <a:r>
              <a:rPr lang="en-US" dirty="0" smtClean="0"/>
              <a:t>: This is an optional parameter. These are the characters that needs to be padded around the string.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format()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method lets us concatenate elements within a string through positional formatting.</a:t>
            </a:r>
          </a:p>
          <a:p>
            <a:pPr fontAlgn="base"/>
            <a:r>
              <a:rPr lang="en-US" dirty="0" smtClean="0"/>
              <a:t>Syntax : </a:t>
            </a:r>
            <a:r>
              <a:rPr lang="en-US" dirty="0" smtClean="0">
                <a:solidFill>
                  <a:srgbClr val="FF0000"/>
                </a:solidFill>
              </a:rPr>
              <a:t>{ } .format(value)</a:t>
            </a:r>
          </a:p>
          <a:p>
            <a:pPr lvl="1" fontAlgn="base"/>
            <a:r>
              <a:rPr lang="en-US" dirty="0" smtClean="0"/>
              <a:t>parameters :</a:t>
            </a:r>
            <a:br>
              <a:rPr lang="en-US" dirty="0" smtClean="0"/>
            </a:br>
            <a:r>
              <a:rPr lang="en-US" dirty="0" smtClean="0"/>
              <a:t>(value) : Can be an integer, floating point numeric constant, string, characters or even variables.</a:t>
            </a:r>
          </a:p>
          <a:p>
            <a:pPr lvl="1" fontAlgn="base"/>
            <a:r>
              <a:rPr lang="en-US" dirty="0" smtClean="0"/>
              <a:t>return-type : returns a formatted string with the value passed as parameter in the placeholder position.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format()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2209800"/>
          </a:xfrm>
        </p:spPr>
        <p:txBody>
          <a:bodyPr>
            <a:normAutofit/>
          </a:bodyPr>
          <a:lstStyle/>
          <a:p>
            <a:r>
              <a:rPr lang="en-US" dirty="0" smtClean="0"/>
              <a:t>what if you want to specify precision in floating point number? </a:t>
            </a:r>
          </a:p>
          <a:p>
            <a:r>
              <a:rPr lang="en-US" b="1" dirty="0" smtClean="0"/>
              <a:t>Syntax:</a:t>
            </a:r>
            <a:r>
              <a:rPr lang="en-US" dirty="0" smtClean="0"/>
              <a:t> 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{[</a:t>
            </a:r>
            <a:r>
              <a:rPr lang="en-US" sz="2400" dirty="0" err="1" smtClean="0">
                <a:solidFill>
                  <a:srgbClr val="FF0000"/>
                </a:solidFill>
              </a:rPr>
              <a:t>argument_index_or_keyword</a:t>
            </a:r>
            <a:r>
              <a:rPr lang="en-US" sz="2400" dirty="0" smtClean="0">
                <a:solidFill>
                  <a:srgbClr val="FF0000"/>
                </a:solidFill>
              </a:rPr>
              <a:t>]:[width][.precision][type]}</a:t>
            </a:r>
          </a:p>
          <a:p>
            <a:pPr lvl="1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124200"/>
          <a:ext cx="6477000" cy="3505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876800"/>
              </a:tblGrid>
              <a:tr h="4012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dirty="0"/>
                        <a:t>Format codes</a:t>
                      </a:r>
                    </a:p>
                  </a:txBody>
                  <a:tcPr marL="47625" marR="47625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/>
                        <a:t>Description</a:t>
                      </a:r>
                    </a:p>
                  </a:txBody>
                  <a:tcPr marL="47625" marR="47625" marT="47625" marB="47625" anchor="b"/>
                </a:tc>
              </a:tr>
              <a:tr h="4012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/>
                        <a:t>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for integers</a:t>
                      </a:r>
                    </a:p>
                  </a:txBody>
                  <a:tcPr marL="47625" marR="47625" marT="47625" marB="47625"/>
                </a:tc>
              </a:tr>
              <a:tr h="4012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f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for floating point numbers</a:t>
                      </a:r>
                    </a:p>
                  </a:txBody>
                  <a:tcPr marL="47625" marR="47625" marT="47625" marB="47625"/>
                </a:tc>
              </a:tr>
              <a:tr h="4012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b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for binary numbers</a:t>
                      </a:r>
                    </a:p>
                  </a:txBody>
                  <a:tcPr marL="47625" marR="47625" marT="47625" marB="47625"/>
                </a:tc>
              </a:tr>
              <a:tr h="4012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o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for octal numbers</a:t>
                      </a:r>
                    </a:p>
                  </a:txBody>
                  <a:tcPr marL="47625" marR="47625" marT="47625" marB="47625"/>
                </a:tc>
              </a:tr>
              <a:tr h="4012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x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for octal hexadecimal numbers</a:t>
                      </a:r>
                    </a:p>
                  </a:txBody>
                  <a:tcPr marL="47625" marR="47625" marT="47625" marB="47625"/>
                </a:tc>
              </a:tr>
              <a:tr h="4012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s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for string</a:t>
                      </a:r>
                    </a:p>
                  </a:txBody>
                  <a:tcPr marL="47625" marR="47625" marT="47625" marB="47625"/>
                </a:tc>
              </a:tr>
              <a:tr h="69664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/>
                        <a:t>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/>
                        <a:t>for floating point in exponent format</a:t>
                      </a:r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Also called “formatted string literals” </a:t>
            </a:r>
          </a:p>
          <a:p>
            <a:r>
              <a:rPr lang="en-US" dirty="0" smtClean="0"/>
              <a:t>f-strings are string literals that have an f at the beginning and curly braces containing expressions that will be replaced with their values.</a:t>
            </a:r>
          </a:p>
          <a:p>
            <a:r>
              <a:rPr lang="en-US" dirty="0" smtClean="0"/>
              <a:t>The expressions are evaluated at runtime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abs() function is used to return the absolute value of a number.</a:t>
            </a:r>
          </a:p>
          <a:p>
            <a:r>
              <a:rPr lang="en-US" dirty="0" smtClean="0"/>
              <a:t>Syntax:</a:t>
            </a:r>
          </a:p>
          <a:p>
            <a:pPr lvl="1"/>
            <a:r>
              <a:rPr lang="en-US" b="1" dirty="0" smtClean="0"/>
              <a:t>abs(number)</a:t>
            </a:r>
            <a:r>
              <a:rPr lang="en-US" dirty="0" smtClean="0"/>
              <a:t> </a:t>
            </a:r>
          </a:p>
          <a:p>
            <a:pPr lvl="1"/>
            <a:r>
              <a:rPr lang="en-US" b="1" dirty="0" smtClean="0"/>
              <a:t>number : </a:t>
            </a:r>
            <a:r>
              <a:rPr lang="en-US" dirty="0" smtClean="0"/>
              <a:t>Can be integer, a floating point number or a complex number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944</Words>
  <Application>Microsoft Office PowerPoint</Application>
  <PresentationFormat>On-screen Show (4:3)</PresentationFormat>
  <Paragraphs>227</Paragraphs>
  <Slides>34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PYTHON</vt:lpstr>
      <vt:lpstr>Slide 2</vt:lpstr>
      <vt:lpstr>Slide 3</vt:lpstr>
      <vt:lpstr>Slide 4</vt:lpstr>
      <vt:lpstr>Applications of Python</vt:lpstr>
      <vt:lpstr>Comments and Literals</vt:lpstr>
      <vt:lpstr>Taking input()</vt:lpstr>
      <vt:lpstr>How the input function works in Python</vt:lpstr>
      <vt:lpstr>typecasting</vt:lpstr>
      <vt:lpstr>Printing Output</vt:lpstr>
      <vt:lpstr>type() method</vt:lpstr>
      <vt:lpstr>type() method</vt:lpstr>
      <vt:lpstr>Data Types</vt:lpstr>
      <vt:lpstr>Data Types</vt:lpstr>
      <vt:lpstr>id() method</vt:lpstr>
      <vt:lpstr>Strings</vt:lpstr>
      <vt:lpstr>String indexing</vt:lpstr>
      <vt:lpstr>Substrings/Slicing</vt:lpstr>
      <vt:lpstr>Template</vt:lpstr>
      <vt:lpstr>index() and find()</vt:lpstr>
      <vt:lpstr>index() and find()</vt:lpstr>
      <vt:lpstr>replace()</vt:lpstr>
      <vt:lpstr>Repetition </vt:lpstr>
      <vt:lpstr>Splitting, Concatenating, and Joining</vt:lpstr>
      <vt:lpstr>Splitting, Concatenating, and Joining</vt:lpstr>
      <vt:lpstr>Splitting, Concatenating, and Joining</vt:lpstr>
      <vt:lpstr>methods</vt:lpstr>
      <vt:lpstr>eval()</vt:lpstr>
      <vt:lpstr>str(),repr() and zfill()</vt:lpstr>
      <vt:lpstr>rjust()</vt:lpstr>
      <vt:lpstr>format()</vt:lpstr>
      <vt:lpstr>format()</vt:lpstr>
      <vt:lpstr>fstrings</vt:lpstr>
      <vt:lpstr>abs()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Tele</dc:creator>
  <cp:lastModifiedBy>Abdul</cp:lastModifiedBy>
  <cp:revision>258</cp:revision>
  <dcterms:created xsi:type="dcterms:W3CDTF">2006-08-16T00:00:00Z</dcterms:created>
  <dcterms:modified xsi:type="dcterms:W3CDTF">2020-12-31T03:37:55Z</dcterms:modified>
</cp:coreProperties>
</file>